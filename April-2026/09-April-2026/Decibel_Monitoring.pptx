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33" autoAdjust="0"/>
  </p:normalViewPr>
  <p:slideViewPr>
    <p:cSldViewPr snapToGrid="0" snapToObjects="1">
      <p:cViewPr varScale="1">
        <p:scale>
          <a:sx n="139" d="100"/>
          <a:sy n="139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831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7AA20-F2D1-6E74-D009-CFB23BCC5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13504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8A54ED-A0E8-D47E-E68E-8FB3C31096AB}"/>
              </a:ext>
            </a:extLst>
          </p:cNvPr>
          <p:cNvSpPr txBox="1"/>
          <p:nvPr/>
        </p:nvSpPr>
        <p:spPr>
          <a:xfrm>
            <a:off x="2286000" y="1034939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1" dirty="0"/>
            </a:br>
            <a:r>
              <a:rPr lang="en-US" sz="1700" b="1" dirty="0"/>
              <a:t>DEPARTMENT OF INFORMATION TECHNOLOGY</a:t>
            </a:r>
          </a:p>
          <a:p>
            <a:endParaRPr lang="en-US" dirty="0"/>
          </a:p>
          <a:p>
            <a:r>
              <a:rPr lang="en-US" dirty="0"/>
              <a:t>          </a:t>
            </a:r>
            <a:r>
              <a:rPr lang="en-US" sz="1600" dirty="0"/>
              <a:t>NON SYLLABUS PROJECT PRESENTATION </a:t>
            </a:r>
          </a:p>
          <a:p>
            <a:r>
              <a:rPr lang="en-US" sz="1600" dirty="0"/>
              <a:t>		 ON</a:t>
            </a:r>
          </a:p>
          <a:p>
            <a:r>
              <a:rPr lang="en-US" sz="1600" b="1" dirty="0"/>
              <a:t>	     DECIBEL MONITORING</a:t>
            </a:r>
            <a:endParaRPr lang="en-IN" sz="1600" b="1" dirty="0"/>
          </a:p>
        </p:txBody>
      </p:sp>
      <p:pic>
        <p:nvPicPr>
          <p:cNvPr id="6" name="Picture 2" descr="C:\Users\asian\Desktop\Poornima logo.png">
            <a:extLst>
              <a:ext uri="{FF2B5EF4-FFF2-40B4-BE49-F238E27FC236}">
                <a16:creationId xmlns:a16="http://schemas.microsoft.com/office/drawing/2014/main" id="{597038C0-5D84-2653-4F5D-2567115AB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94471" y="2653968"/>
            <a:ext cx="1530145" cy="1288616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4E9B6B-16B2-3520-D0B7-6DAE02AE04DE}"/>
              </a:ext>
            </a:extLst>
          </p:cNvPr>
          <p:cNvSpPr txBox="1"/>
          <p:nvPr/>
        </p:nvSpPr>
        <p:spPr>
          <a:xfrm>
            <a:off x="225083" y="4016326"/>
            <a:ext cx="23633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Presented to:</a:t>
            </a:r>
            <a:endParaRPr lang="en-US" sz="1500" b="1" dirty="0"/>
          </a:p>
          <a:p>
            <a:pPr marL="342900" indent="-342900"/>
            <a:r>
              <a:rPr lang="en-US" sz="1500" b="1" dirty="0"/>
              <a:t>Ms. Priya Shekhawat</a:t>
            </a:r>
          </a:p>
          <a:p>
            <a:pPr marL="342900" indent="-342900"/>
            <a:r>
              <a:rPr lang="en-US" sz="1500" dirty="0"/>
              <a:t>(Faculty Coordinator)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4E73F1-1856-BCC6-B786-67E4AC12F72C}"/>
              </a:ext>
            </a:extLst>
          </p:cNvPr>
          <p:cNvSpPr txBox="1"/>
          <p:nvPr/>
        </p:nvSpPr>
        <p:spPr>
          <a:xfrm>
            <a:off x="7005711" y="3793002"/>
            <a:ext cx="2089052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Presented By:</a:t>
            </a:r>
          </a:p>
          <a:p>
            <a:r>
              <a:rPr lang="en-US" sz="1500" b="1" dirty="0"/>
              <a:t>Dishant  Hada</a:t>
            </a:r>
          </a:p>
          <a:p>
            <a:r>
              <a:rPr lang="en-US" sz="1500" b="1" dirty="0"/>
              <a:t>Joyesh Santra</a:t>
            </a:r>
          </a:p>
          <a:p>
            <a:r>
              <a:rPr lang="en-US" sz="1500" b="1" dirty="0"/>
              <a:t>Nityam Kumar</a:t>
            </a:r>
          </a:p>
          <a:p>
            <a:r>
              <a:rPr lang="en-US" sz="1500" b="1" dirty="0"/>
              <a:t>Shikhar Mathur</a:t>
            </a: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6470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C49A3C">
              <a:alpha val="45000"/>
            </a:srgbClr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-1371600"/>
            <a:ext cx="5486400" cy="5486400"/>
          </a:xfrm>
          <a:prstGeom prst="ellipse">
            <a:avLst/>
          </a:prstGeom>
          <a:solidFill>
            <a:srgbClr val="D4642A">
              <a:alpha val="12000"/>
            </a:srgbClr>
          </a:solidFill>
          <a:ln w="25400">
            <a:solidFill>
              <a:srgbClr val="D4642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Decibel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617720" y="74980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Noise Monitoring in Your Browser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D4642A">
              <a:alpha val="22000"/>
            </a:srgbClr>
          </a:solidFill>
          <a:ln w="1905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Microphone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27832" y="278892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7C6E9A">
              <a:alpha val="22000"/>
            </a:srgbClr>
          </a:solidFill>
          <a:ln w="1905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27832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Powered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61304" y="278892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2E9B8E">
              <a:alpha val="22000"/>
            </a:srgbClr>
          </a:solidFill>
          <a:ln w="1905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61304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100% Browser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Web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What is Decibel Monitoring?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Decibel Monitoring?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3566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254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01568" y="1243584"/>
            <a:ext cx="2340864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01568" y="12435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🎙 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66420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29184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0440" y="3063240"/>
            <a:ext cx="2103120" cy="164592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20440" y="3063240"/>
            <a:ext cx="1417320" cy="16459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01568" y="33101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Caution Zone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568" y="362102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78 dB  ·  Peak 89 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115568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1115568"/>
            <a:ext cx="64008" cy="987552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115214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15568" y="1188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live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258568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2258568"/>
            <a:ext cx="64008" cy="987552"/>
          </a:xfrm>
          <a:prstGeom prst="rect">
            <a:avLst/>
          </a:prstGeom>
          <a:solidFill>
            <a:srgbClr val="2E9B8E"/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229514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15568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dB levels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64008" cy="9875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343814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🩺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115568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hearing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dose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1115568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72200" y="1115568"/>
            <a:ext cx="64008" cy="987552"/>
          </a:xfrm>
          <a:prstGeom prst="rect">
            <a:avLst/>
          </a:prstGeom>
          <a:solidFill>
            <a:srgbClr val="7C6E9A"/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09360" y="115214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22008" y="1188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2258568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72200" y="2258568"/>
            <a:ext cx="64008" cy="9875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09360" y="229514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22008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analysis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72200" y="3401568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72200" y="3401568"/>
            <a:ext cx="64008" cy="9875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0" y="343814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922008" y="3474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session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Tech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inside a single HTML file — no frameworks, no server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1938528" cy="502920"/>
          </a:xfrm>
          <a:prstGeom prst="rect">
            <a:avLst/>
          </a:prstGeom>
          <a:solidFill>
            <a:srgbClr val="D4642A">
              <a:alpha val="8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353312"/>
            <a:ext cx="1938528" cy="502920"/>
          </a:xfrm>
          <a:prstGeom prst="rect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87168" y="135331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87168" y="185623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87168" y="19202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87168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+ Themes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353312"/>
            <a:ext cx="1938528" cy="502920"/>
          </a:xfrm>
          <a:prstGeom prst="rect">
            <a:avLst/>
          </a:prstGeom>
          <a:solidFill>
            <a:srgbClr val="C49A3C">
              <a:alpha val="80000"/>
            </a:srgbClr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08576" y="135331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08576" y="185623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08576" y="19202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8576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+ Control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9984" y="1353312"/>
            <a:ext cx="1938528" cy="502920"/>
          </a:xfrm>
          <a:prstGeom prst="rect">
            <a:avLst/>
          </a:prstGeom>
          <a:solidFill>
            <a:srgbClr val="2E9B8E">
              <a:alpha val="80000"/>
            </a:srgbClr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9984" y="135331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729984" y="185623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29984" y="19202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9984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+ FFT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999232"/>
            <a:ext cx="1938528" cy="502920"/>
          </a:xfrm>
          <a:prstGeom prst="rect">
            <a:avLst/>
          </a:prstGeom>
          <a:solidFill>
            <a:srgbClr val="7C6E9A">
              <a:alpha val="80000"/>
            </a:srgbClr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299923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65760" y="350215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5661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389534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Waveform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87168" y="2999232"/>
            <a:ext cx="1938528" cy="50292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487168" y="299923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487168" y="350215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87168" y="35661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APIs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487168" y="389534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Notifs · Speech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08576" y="2999232"/>
            <a:ext cx="1938528" cy="502920"/>
          </a:xfrm>
          <a:prstGeom prst="rect">
            <a:avLst/>
          </a:prstGeom>
          <a:solidFill>
            <a:srgbClr val="D4A84B">
              <a:alpha val="80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08576" y="299923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🔤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4608576" y="350215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08576" y="35661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08576" y="389534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Mono · Serif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9984" y="2999232"/>
            <a:ext cx="1938528" cy="50292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729984" y="2999232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6729984" y="3502152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729984" y="35661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29984" y="389534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needed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508760" cy="502920"/>
          </a:xfrm>
          <a:prstGeom prst="rect">
            <a:avLst/>
          </a:prstGeom>
          <a:solidFill>
            <a:srgbClr val="D4642A">
              <a:alpha val="85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15087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captures raw audio via getUserMedia()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47672" y="2084832"/>
            <a:ext cx="118872" cy="36576"/>
          </a:xfrm>
          <a:prstGeom prst="rect">
            <a:avLst/>
          </a:prstGeom>
          <a:solidFill>
            <a:srgbClr val="D4642A">
              <a:alpha val="7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93392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93976" y="1143000"/>
            <a:ext cx="1508760" cy="502920"/>
          </a:xfrm>
          <a:prstGeom prst="rect">
            <a:avLst/>
          </a:prstGeom>
          <a:solidFill>
            <a:srgbClr val="2E9B8E">
              <a:alpha val="85000"/>
            </a:srgbClr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93976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093976" y="1645920"/>
            <a:ext cx="15087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93976" y="1691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93976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85416" y="24231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AudioContext processes the microphone stream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30168" y="2084832"/>
            <a:ext cx="118872" cy="36576"/>
          </a:xfrm>
          <a:prstGeom prst="rect">
            <a:avLst/>
          </a:prstGeom>
          <a:solidFill>
            <a:srgbClr val="D4642A">
              <a:alpha val="7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75888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76472" y="1143000"/>
            <a:ext cx="1508760" cy="502920"/>
          </a:xfrm>
          <a:prstGeom prst="rect">
            <a:avLst/>
          </a:prstGeom>
          <a:solidFill>
            <a:srgbClr val="C49A3C">
              <a:alpha val="85000"/>
            </a:srgbClr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776472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776472" y="1645920"/>
            <a:ext cx="15087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76472" y="1691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49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76472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→ dB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67912" y="24231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converts signal to decibels in real-time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12664" y="2084832"/>
            <a:ext cx="118872" cy="36576"/>
          </a:xfrm>
          <a:prstGeom prst="rect">
            <a:avLst/>
          </a:prstGeom>
          <a:solidFill>
            <a:srgbClr val="D4642A">
              <a:alpha val="7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58384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58968" y="1143000"/>
            <a:ext cx="1508760" cy="502920"/>
          </a:xfrm>
          <a:prstGeom prst="rect">
            <a:avLst/>
          </a:prstGeom>
          <a:solidFill>
            <a:srgbClr val="7C6E9A">
              <a:alpha val="85000"/>
            </a:srgbClr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58968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458968" y="1645920"/>
            <a:ext cx="15087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58968" y="1691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6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58968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Analysis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50408" y="24231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sound into frequency bands (spectrum)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95160" y="2084832"/>
            <a:ext cx="118872" cy="36576"/>
          </a:xfrm>
          <a:prstGeom prst="rect">
            <a:avLst/>
          </a:prstGeom>
          <a:solidFill>
            <a:srgbClr val="D4642A">
              <a:alpha val="7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04088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41464" y="1143000"/>
            <a:ext cx="1508760" cy="502920"/>
          </a:xfrm>
          <a:prstGeom prst="rect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41464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141464" y="1645920"/>
            <a:ext cx="15087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41464" y="16916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141464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Display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32904" y="24231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gauge, and AI all update every frame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822192"/>
            <a:ext cx="841248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" y="38221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This entire pipeline runs ~60 times per second inside your browser — no server involved!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Web Audio API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" y="457200"/>
            <a:ext cx="2926080" cy="2926080"/>
          </a:xfrm>
          <a:prstGeom prst="ellipse">
            <a:avLst/>
          </a:prstGeom>
          <a:solidFill>
            <a:srgbClr val="2E9B8E">
              <a:alpha val="15000"/>
            </a:srgbClr>
          </a:solidFill>
          <a:ln w="25400">
            <a:solidFill>
              <a:srgbClr val="2E9B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" y="4572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291840" y="25603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Audio API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91840" y="87782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acoustic engine of Decibel Monitoring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64008" cy="694944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93008" y="140817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140817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whole audio graph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176272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91840" y="2176272"/>
            <a:ext cx="64008" cy="694944"/>
          </a:xfrm>
          <a:prstGeom prst="rect">
            <a:avLst/>
          </a:prstGeom>
          <a:solidFill>
            <a:srgbClr val="7C6E9A"/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93008" y="22128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AnalyserNode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22128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waveform + frequency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2980944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91840" y="2980944"/>
            <a:ext cx="64008" cy="694944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93008" y="30175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Size: 2048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06440" y="30175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spectrum 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3785616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91840" y="3785616"/>
            <a:ext cx="64008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93008" y="382219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Loop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06440" y="38221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 updates every screen frame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2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MDN Web Docs — developer.mozilla.org/en-US/docs/Web/API/Web_Audio_API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Live Screen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Screen Features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32004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73152" cy="1078992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0607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 dB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682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decibel level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32004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73152" cy="1078992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29514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29169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dose used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32004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73152" cy="1078992"/>
          </a:xfrm>
          <a:prstGeom prst="rect">
            <a:avLst/>
          </a:prstGeom>
          <a:solidFill>
            <a:srgbClr val="2E9B8E"/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5295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Hz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48640" y="4151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1024128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977640" y="1024128"/>
            <a:ext cx="64008" cy="694944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0" y="10607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81728" y="10607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Gauge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1060704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meter 0–120 dB, colour changes with risk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1828800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977640" y="1828800"/>
            <a:ext cx="64008" cy="694944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0" y="186537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〰️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81728" y="186537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Oscilloscope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1865376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waveform drawn on Canvas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77640" y="2633472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977640" y="2633472"/>
            <a:ext cx="64008" cy="694944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0" y="26700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🎵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81728" y="267004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Balance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17920" y="2670048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/ Mid / Treble % from FFT 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77640" y="3438144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977640" y="3438144"/>
            <a:ext cx="64008" cy="694944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114800" y="34747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81728" y="34747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Detector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17920" y="3474720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sudden loud spikes automatically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77640" y="4242816"/>
            <a:ext cx="4754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977640" y="4242816"/>
            <a:ext cx="64008" cy="694944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114800" y="427939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681728" y="427939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217920" y="427939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safety tip every 60 seconds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Hearing Health Standards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Hearing Health Standards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Decibel Monitoring follows 3 real-world safety standards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97480" cy="658368"/>
          </a:xfrm>
          <a:prstGeom prst="rect">
            <a:avLst/>
          </a:prstGeom>
          <a:solidFill>
            <a:srgbClr val="2E9B8E">
              <a:alpha val="85000"/>
            </a:srgbClr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WHO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974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1975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2148840" cy="18288"/>
          </a:xfrm>
          <a:prstGeom prst="rect">
            <a:avLst/>
          </a:prstGeom>
          <a:solidFill>
            <a:srgbClr val="2E9B8E">
              <a:alpha val="50000"/>
            </a:srgbClr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dB = safe for 8 hours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+3 dB → halve the 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" y="34015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 Decibel Monitoring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261872"/>
            <a:ext cx="2697480" cy="658368"/>
          </a:xfrm>
          <a:prstGeom prst="rect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0" y="12618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NIOSH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91840" y="1920240"/>
            <a:ext cx="26974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1975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Nat'l Institute for Occupational Safety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377440"/>
            <a:ext cx="2148840" cy="18288"/>
          </a:xfrm>
          <a:prstGeom prst="rect">
            <a:avLst/>
          </a:prstGeom>
          <a:solidFill>
            <a:srgbClr val="27AE60">
              <a:alpha val="5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01568" y="2432304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Dose formula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dB limit / 8 hr = 100% dose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01568" y="34015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 Decibel Monitoring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261872"/>
            <a:ext cx="2697480" cy="658368"/>
          </a:xfrm>
          <a:prstGeom prst="rect">
            <a:avLst/>
          </a:prstGeom>
          <a:solidFill>
            <a:srgbClr val="D4A84B">
              <a:alpha val="85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0" y="12618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OSHA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17920" y="1920240"/>
            <a:ext cx="26974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27648" y="1975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Safety &amp; Health Admin.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377440"/>
            <a:ext cx="2148840" cy="18288"/>
          </a:xfrm>
          <a:prstGeom prst="rect">
            <a:avLst/>
          </a:prstGeom>
          <a:solidFill>
            <a:srgbClr val="D4A84B">
              <a:alpha val="50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27648" y="2432304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dB TWA legal limit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level at 85 dB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27648" y="34015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 Decibel Monitoring 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2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who.int  ·  cdc.gov/niosh  ·  osha.gov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Offline AI Assistant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2743200" cy="2743200"/>
          </a:xfrm>
          <a:prstGeom prst="ellipse">
            <a:avLst/>
          </a:prstGeom>
          <a:solidFill>
            <a:srgbClr val="7C6E9A">
              <a:alpha val="15000"/>
            </a:srgbClr>
          </a:solidFill>
          <a:ln w="25400">
            <a:solidFill>
              <a:srgbClr val="7C6E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" y="548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0" y="25603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7C6E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AI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7C6E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0" y="129844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your questions — with zero internet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792224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D4642A">
              <a:alpha val="18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10128" y="1792224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Is 85 dB safe for long exposure?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505456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7C6E9A">
              <a:alpha val="18000"/>
            </a:srgbClr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67328" y="2505456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At 85 dB, you have about 8 hours safe exposure per day.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3218688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D4642A">
              <a:alpha val="18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10128" y="3218688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How do I protect my hearing?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393192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7C6E9A">
              <a:alpha val="18000"/>
            </a:srgbClr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67328" y="3931920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Use ear plugs, take breaks, and stay below 70 dB.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457200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7C6E9A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0" y="45720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needed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1728" y="457200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81728" y="45720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after load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63056" y="457200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7C6E9A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63056" y="45720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animation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44384" y="457200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644384" y="457200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 aware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Canvas Visualizations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Visualizations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drawn from scratch — no chart libraries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97480" cy="530352"/>
          </a:xfrm>
          <a:prstGeom prst="rect">
            <a:avLst/>
          </a:prstGeom>
          <a:solidFill>
            <a:srgbClr val="D4642A">
              <a:alpha val="82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  SVG Gauge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2697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184708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meter with animated dot + colour zones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261872"/>
            <a:ext cx="2697480" cy="530352"/>
          </a:xfrm>
          <a:prstGeom prst="rect">
            <a:avLst/>
          </a:prstGeom>
          <a:solidFill>
            <a:srgbClr val="2E9B8E">
              <a:alpha val="82000"/>
            </a:srgbClr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73552" y="12618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〰️  Oscilloscope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73552" y="1792224"/>
            <a:ext cx="2697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0" y="184708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waveform from PCM audio buffer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1261872"/>
            <a:ext cx="2697480" cy="530352"/>
          </a:xfrm>
          <a:prstGeom prst="rect">
            <a:avLst/>
          </a:prstGeom>
          <a:solidFill>
            <a:srgbClr val="C49A3C">
              <a:alpha val="82000"/>
            </a:srgbClr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81344" y="12618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dB History Graph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1792224"/>
            <a:ext cx="2697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91072" y="184708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with rolling average overlay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2697480" cy="530352"/>
          </a:xfrm>
          <a:prstGeom prst="rect">
            <a:avLst/>
          </a:prstGeom>
          <a:solidFill>
            <a:srgbClr val="7C6E9A">
              <a:alpha val="82000"/>
            </a:srgbClr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88950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  Octave Analyzer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419856"/>
            <a:ext cx="2697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34747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frequency bands rendered as bar columns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73552" y="2889504"/>
            <a:ext cx="2697480" cy="530352"/>
          </a:xfrm>
          <a:prstGeom prst="rect">
            <a:avLst/>
          </a:prstGeom>
          <a:solidFill>
            <a:srgbClr val="D4A84B">
              <a:alpha val="82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73552" y="288950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Donut Chart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73552" y="3419856"/>
            <a:ext cx="2697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83280" y="34747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behaviour distribution (steady/impulsive…)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81344" y="2889504"/>
            <a:ext cx="2697480" cy="530352"/>
          </a:xfrm>
          <a:prstGeom prst="rect">
            <a:avLst/>
          </a:prstGeom>
          <a:solidFill>
            <a:srgbClr val="27AE60">
              <a:alpha val="8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81344" y="288950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Heatmap Strip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81344" y="3419856"/>
            <a:ext cx="26974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91072" y="34747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60-column colour timeline of dB history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Key Metrics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Decibel Monitoring Tracks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1938528" cy="548640"/>
          </a:xfrm>
          <a:prstGeom prst="rect">
            <a:avLst/>
          </a:prstGeom>
          <a:solidFill>
            <a:srgbClr val="D4642A">
              <a:alpha val="88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93852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loud is it right now?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1024128"/>
            <a:ext cx="1938528" cy="548640"/>
          </a:xfrm>
          <a:prstGeom prst="rect">
            <a:avLst/>
          </a:prstGeom>
          <a:solidFill>
            <a:srgbClr val="2E9B8E">
              <a:alpha val="88000"/>
            </a:srgbClr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87168" y="10241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Leq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487168" y="1572768"/>
            <a:ext cx="193852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78608" y="162763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Equiv.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22860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energy over the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1024128"/>
            <a:ext cx="1938528" cy="548640"/>
          </a:xfrm>
          <a:prstGeom prst="rect">
            <a:avLst/>
          </a:prstGeom>
          <a:solidFill>
            <a:srgbClr val="D4A84B">
              <a:alpha val="88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08576" y="10241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TWA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608576" y="1572768"/>
            <a:ext cx="193852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84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00016" y="162763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8-hr Time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0016" y="22860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work safety standard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9984" y="1024128"/>
            <a:ext cx="1938528" cy="548640"/>
          </a:xfrm>
          <a:prstGeom prst="rect">
            <a:avLst/>
          </a:prstGeom>
          <a:solidFill>
            <a:srgbClr val="C0392B">
              <a:alpha val="88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29984" y="10241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Dose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729984" y="1572768"/>
            <a:ext cx="193852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21424" y="162763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1424" y="228600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daily safe limit used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364845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4005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events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57400" y="361188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 w="1524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057400" y="364845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57400" y="4005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level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361188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 w="1524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49040" y="364845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L90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49040" y="4005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40680" y="361188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 w="1524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40680" y="364845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Impulses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4005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spikes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32320" y="3611880"/>
            <a:ext cx="1536192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 w="1524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32320" y="364845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Safe Time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32320" y="400507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Session History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History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monitoring session is saved and visualised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64008" cy="2011680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0352" y="13167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Session — Apr 5 · 11:42 AM  ·  12m 30s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1719072"/>
            <a:ext cx="18288" cy="1335024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755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1755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7452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1755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10896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3400" y="1755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49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4340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Leq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2633472"/>
            <a:ext cx="4937760" cy="128016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66928" y="2999232"/>
            <a:ext cx="274320" cy="182880"/>
          </a:xfrm>
          <a:prstGeom prst="rect">
            <a:avLst/>
          </a:prstGeom>
          <a:solidFill>
            <a:srgbClr val="27AE60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05256" y="2930652"/>
            <a:ext cx="274320" cy="251460"/>
          </a:xfrm>
          <a:prstGeom prst="rect">
            <a:avLst/>
          </a:prstGeom>
          <a:solidFill>
            <a:srgbClr val="27AE60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243584" y="2898648"/>
            <a:ext cx="274320" cy="283464"/>
          </a:xfrm>
          <a:prstGeom prst="rect">
            <a:avLst/>
          </a:prstGeom>
          <a:solidFill>
            <a:srgbClr val="27AE60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581912" y="2871216"/>
            <a:ext cx="274320" cy="310896"/>
          </a:xfrm>
          <a:prstGeom prst="rect">
            <a:avLst/>
          </a:prstGeom>
          <a:solidFill>
            <a:srgbClr val="27AE60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920240" y="2825496"/>
            <a:ext cx="274320" cy="356616"/>
          </a:xfrm>
          <a:prstGeom prst="rect">
            <a:avLst/>
          </a:prstGeom>
          <a:solidFill>
            <a:srgbClr val="D4A84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58568" y="2807208"/>
            <a:ext cx="274320" cy="374904"/>
          </a:xfrm>
          <a:prstGeom prst="rect">
            <a:avLst/>
          </a:prstGeom>
          <a:solidFill>
            <a:srgbClr val="D4A84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596896" y="2793492"/>
            <a:ext cx="274320" cy="38862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935224" y="2779776"/>
            <a:ext cx="274320" cy="402336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73552" y="2766060"/>
            <a:ext cx="274320" cy="416052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11880" y="2793492"/>
            <a:ext cx="274320" cy="388620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950208" y="2816352"/>
            <a:ext cx="274320" cy="365760"/>
          </a:xfrm>
          <a:prstGeom prst="rect">
            <a:avLst/>
          </a:prstGeom>
          <a:solidFill>
            <a:srgbClr val="D4A84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88536" y="2830068"/>
            <a:ext cx="274320" cy="352044"/>
          </a:xfrm>
          <a:prstGeom prst="rect">
            <a:avLst/>
          </a:prstGeom>
          <a:solidFill>
            <a:srgbClr val="D4A84B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26864" y="2852928"/>
            <a:ext cx="274320" cy="329184"/>
          </a:xfrm>
          <a:prstGeom prst="rect">
            <a:avLst/>
          </a:prstGeom>
          <a:solidFill>
            <a:srgbClr val="27AE60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65192" y="2871216"/>
            <a:ext cx="274320" cy="310896"/>
          </a:xfrm>
          <a:prstGeom prst="rect">
            <a:avLst/>
          </a:prstGeom>
          <a:solidFill>
            <a:srgbClr val="27AE60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03520" y="2884932"/>
            <a:ext cx="274320" cy="297180"/>
          </a:xfrm>
          <a:prstGeom prst="rect">
            <a:avLst/>
          </a:prstGeom>
          <a:solidFill>
            <a:srgbClr val="27AE60">
              <a:alpha val="60000"/>
            </a:srgbClr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0352" y="3054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6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✨  Tap for AI summary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1280160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43600" y="1280160"/>
            <a:ext cx="64008" cy="694944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80760" y="13167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656832" y="131673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sessions stored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43600" y="2103120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943600" y="2103120"/>
            <a:ext cx="64008" cy="694944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080760" y="21396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656832" y="213969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peak chart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43600" y="2926080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943600" y="2926080"/>
            <a:ext cx="64008" cy="694944"/>
          </a:xfrm>
          <a:prstGeom prst="rect">
            <a:avLst/>
          </a:prstGeom>
          <a:solidFill>
            <a:srgbClr val="2E9B8E"/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080760" y="29626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656832" y="29626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notes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43600" y="3749040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943600" y="3749040"/>
            <a:ext cx="64008" cy="694944"/>
          </a:xfrm>
          <a:prstGeom prst="rect">
            <a:avLst/>
          </a:prstGeom>
          <a:solidFill>
            <a:srgbClr val="7C6E9A"/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080760" y="378561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656832" y="378561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per session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Single File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Single HTML File?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3840480" cy="530352"/>
          </a:xfrm>
          <a:prstGeom prst="rect">
            <a:avLst/>
          </a:prstGeom>
          <a:solidFill>
            <a:srgbClr val="C0392B">
              <a:alpha val="8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Web App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Node.js + npm install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React / Vue / Angular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Webpack / Vite build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Backend server needed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Deploy to cloud (cost)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639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 keys, secrets, auth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2377440"/>
            <a:ext cx="822960" cy="548640"/>
          </a:xfrm>
          <a:prstGeom prst="ellipse">
            <a:avLst/>
          </a:prstGeom>
          <a:solidFill>
            <a:srgbClr val="FAFAFA"/>
          </a:solidFill>
          <a:ln w="1905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60520" y="2377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024128"/>
            <a:ext cx="3840480" cy="530352"/>
          </a:xfrm>
          <a:prstGeom prst="rect">
            <a:avLst/>
          </a:prstGeom>
          <a:solidFill>
            <a:srgbClr val="27AE60">
              <a:alpha val="8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102412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Decibel Monitoring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155448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74920" y="1627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HTML file, open in browser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7492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frameworks needed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24323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build step — just 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74920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server — runs offline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7492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 to share as a file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74920" y="3639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keys, no accounts, no cost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4279392"/>
            <a:ext cx="84124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Total size: ~85 KB  ·  Open in any browser  ·  Works offline  ·  No installation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Browser APIs Used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APIs Used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 — all native browser capabilities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1938528" cy="566928"/>
          </a:xfrm>
          <a:prstGeom prst="rect">
            <a:avLst/>
          </a:prstGeom>
          <a:solidFill>
            <a:srgbClr val="D4642A">
              <a:alpha val="82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MediaDevices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37744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microphone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261872"/>
            <a:ext cx="1938528" cy="566928"/>
          </a:xfrm>
          <a:prstGeom prst="rect">
            <a:avLst/>
          </a:prstGeom>
          <a:solidFill>
            <a:srgbClr val="2E9B8E">
              <a:alpha val="82000"/>
            </a:srgbClr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87168" y="126187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487168" y="182880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0" y="18745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237744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261872"/>
            <a:ext cx="1938528" cy="566928"/>
          </a:xfrm>
          <a:prstGeom prst="rect">
            <a:avLst/>
          </a:prstGeom>
          <a:solidFill>
            <a:srgbClr val="7C6E9A">
              <a:alpha val="82000"/>
            </a:srgbClr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08576" y="126187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608576" y="182880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81728" y="18745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C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2D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C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81728" y="237744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all charts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9984" y="1261872"/>
            <a:ext cx="1938528" cy="566928"/>
          </a:xfrm>
          <a:prstGeom prst="rect">
            <a:avLst/>
          </a:prstGeom>
          <a:solidFill>
            <a:srgbClr val="C49A3C">
              <a:alpha val="82000"/>
            </a:srgbClr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9984" y="126187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729984" y="182880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03136" y="187452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03136" y="237744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to 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953512"/>
            <a:ext cx="1938528" cy="566928"/>
          </a:xfrm>
          <a:prstGeom prst="rect">
            <a:avLst/>
          </a:prstGeom>
          <a:solidFill>
            <a:srgbClr val="D4A84B">
              <a:alpha val="82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29535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8912" y="356616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8912" y="40690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alerts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87168" y="2953512"/>
            <a:ext cx="1938528" cy="566928"/>
          </a:xfrm>
          <a:prstGeom prst="rect">
            <a:avLst/>
          </a:prstGeom>
          <a:solidFill>
            <a:srgbClr val="27AE60">
              <a:alpha val="8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487168" y="29535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📳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2487168" y="352044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560320" y="356616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560320" y="40690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feedback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08576" y="2953512"/>
            <a:ext cx="1938528" cy="566928"/>
          </a:xfrm>
          <a:prstGeom prst="rect">
            <a:avLst/>
          </a:prstGeom>
          <a:solidFill>
            <a:srgbClr val="2980B9">
              <a:alpha val="82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08576" y="29535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4608576" y="352044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81728" y="356616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requestAnim-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ationFrame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681728" y="40690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render loop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9984" y="2953512"/>
            <a:ext cx="1938528" cy="566928"/>
          </a:xfrm>
          <a:prstGeom prst="rect">
            <a:avLst/>
          </a:prstGeom>
          <a:solidFill>
            <a:srgbClr val="9CA3AF">
              <a:alpha val="82000"/>
            </a:srgbClr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729984" y="29535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6729984" y="3520440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03136" y="356616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803136" y="40690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via CDN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D4642A">
              <a:alpha val="50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Decibel Monitoring  ·  dB Scale Reference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Decibel Scale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Decibel Monitoring maps every reading to these references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188720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1012874" cy="301752"/>
          </a:xfrm>
          <a:prstGeom prst="rect">
            <a:avLst/>
          </a:prstGeom>
          <a:solidFill>
            <a:srgbClr val="27AE60">
              <a:alpha val="7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1887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8874" y="1225296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0" y="1581912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0" y="1581912"/>
            <a:ext cx="2025748" cy="301752"/>
          </a:xfrm>
          <a:prstGeom prst="rect">
            <a:avLst/>
          </a:prstGeom>
          <a:solidFill>
            <a:srgbClr val="27AE60">
              <a:alpha val="7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5819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15819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1748" y="1618488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86000" y="1975104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0" y="1975104"/>
            <a:ext cx="2363372" cy="301752"/>
          </a:xfrm>
          <a:prstGeom prst="rect">
            <a:avLst/>
          </a:prstGeom>
          <a:solidFill>
            <a:srgbClr val="27AE60">
              <a:alpha val="7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19751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dB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197510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49372" y="2011680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0" y="2368296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0" y="2368296"/>
            <a:ext cx="2700997" cy="301752"/>
          </a:xfrm>
          <a:prstGeom prst="rect">
            <a:avLst/>
          </a:prstGeom>
          <a:solidFill>
            <a:srgbClr val="D4A84B">
              <a:alpha val="72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36829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dB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236829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Street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6997" y="2404872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286000" y="2761488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0" y="2761488"/>
            <a:ext cx="2869809" cy="301752"/>
          </a:xfrm>
          <a:prstGeom prst="rect">
            <a:avLst/>
          </a:prstGeom>
          <a:solidFill>
            <a:srgbClr val="D4A84B">
              <a:alpha val="72000"/>
            </a:srgbClr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276148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 dB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276148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Safe Limit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55809" y="2798064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286000" y="3154680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286000" y="3154680"/>
            <a:ext cx="3038622" cy="301752"/>
          </a:xfrm>
          <a:prstGeom prst="rect">
            <a:avLst/>
          </a:prstGeom>
          <a:solidFill>
            <a:srgbClr val="D4642A">
              <a:alpha val="72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65760" y="315468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dB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17320" y="31546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Drill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24622" y="3191256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0" y="3547872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286000" y="3547872"/>
            <a:ext cx="3376246" cy="301752"/>
          </a:xfrm>
          <a:prstGeom prst="rect">
            <a:avLst/>
          </a:prstGeom>
          <a:solidFill>
            <a:srgbClr val="D4642A">
              <a:alpha val="72000"/>
            </a:srgbClr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65760" y="35478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6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dB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17320" y="35478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2246" y="3584448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286000" y="3941064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286000" y="3941064"/>
            <a:ext cx="3713871" cy="301752"/>
          </a:xfrm>
          <a:prstGeom prst="rect">
            <a:avLst/>
          </a:prstGeom>
          <a:solidFill>
            <a:srgbClr val="C0392B">
              <a:alpha val="7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65760" y="39410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 dB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17320" y="39410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Nightclub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99871" y="3977640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286000" y="4334256"/>
            <a:ext cx="4389120" cy="301752"/>
          </a:xfrm>
          <a:prstGeom prst="rect">
            <a:avLst/>
          </a:prstGeom>
          <a:solidFill>
            <a:srgbClr val="FAFAFA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286000" y="4334256"/>
            <a:ext cx="4051495" cy="301752"/>
          </a:xfrm>
          <a:prstGeom prst="rect">
            <a:avLst/>
          </a:prstGeom>
          <a:solidFill>
            <a:srgbClr val="C0392B">
              <a:alpha val="7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65760" y="433425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 dB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417320" y="433425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Takeoff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37495" y="4370832"/>
            <a:ext cx="27432" cy="228600"/>
          </a:xfrm>
          <a:prstGeom prst="rect">
            <a:avLst/>
          </a:prstGeom>
          <a:solidFill>
            <a:srgbClr val="1C1917">
              <a:alpha val="60000"/>
            </a:srgbClr>
          </a:solidFill>
          <a:ln w="12700">
            <a:solidFill>
              <a:srgbClr val="1C19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903720" y="1188720"/>
            <a:ext cx="1920240" cy="3538728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90372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6967728" y="1810512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+10 dB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10× more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086600" y="3182112"/>
            <a:ext cx="1554480" cy="18288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967728" y="3236976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85→88 dB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safe time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HALF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C49A3C">
              <a:alpha val="45000"/>
            </a:srgbClr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754880" y="-1097280"/>
            <a:ext cx="5029200" cy="5029200"/>
          </a:xfrm>
          <a:prstGeom prst="ellipse">
            <a:avLst/>
          </a:prstGeom>
          <a:solidFill>
            <a:srgbClr val="D4642A">
              <a:alpha val="10000"/>
            </a:srgbClr>
          </a:solidFill>
          <a:ln w="19050">
            <a:solidFill>
              <a:srgbClr val="D4642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Decibel Monitoring?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42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89888"/>
            <a:ext cx="64008" cy="566928"/>
          </a:xfrm>
          <a:prstGeom prst="rect">
            <a:avLst/>
          </a:prstGeom>
          <a:solidFill>
            <a:srgbClr val="D4642A"/>
          </a:solidFill>
          <a:ln w="12700">
            <a:solidFill>
              <a:srgbClr val="D464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426464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1426464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06040" y="1426464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browser, no install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048256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9B8E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" y="2048256"/>
            <a:ext cx="64008" cy="566928"/>
          </a:xfrm>
          <a:prstGeom prst="rect">
            <a:avLst/>
          </a:prstGeom>
          <a:solidFill>
            <a:srgbClr val="2E9B8E"/>
          </a:solidFill>
          <a:ln w="12700">
            <a:solidFill>
              <a:srgbClr val="2E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08483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98448" y="208483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2084832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on your device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706624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2706624"/>
            <a:ext cx="64008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274320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98448" y="274320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Science-backed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06040" y="274320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NIOSH · OSHA formulas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364992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6E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4360" y="3364992"/>
            <a:ext cx="64008" cy="566928"/>
          </a:xfrm>
          <a:prstGeom prst="rect">
            <a:avLst/>
          </a:prstGeom>
          <a:solidFill>
            <a:srgbClr val="7C6E9A"/>
          </a:solidFill>
          <a:ln w="12700">
            <a:solidFill>
              <a:srgbClr val="7C6E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340156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98448" y="340156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06040" y="340156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offline, no API key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4023360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49A3C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94360" y="4023360"/>
            <a:ext cx="64008" cy="56692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405993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98448" y="4059936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606040" y="405993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real-time audio processing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D46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1100</Words>
  <Application>Microsoft Office PowerPoint</Application>
  <PresentationFormat>On-screen Show (16:9)</PresentationFormat>
  <Paragraphs>345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DecibelAI - College Presentation</dc:title>
  <dc:subject>PptxGenJS Presentation</dc:subject>
  <dc:creator>PptxGenJS</dc:creator>
  <cp:lastModifiedBy>Joyesh Santra</cp:lastModifiedBy>
  <cp:revision>3</cp:revision>
  <dcterms:created xsi:type="dcterms:W3CDTF">2026-04-05T14:21:00Z</dcterms:created>
  <dcterms:modified xsi:type="dcterms:W3CDTF">2026-04-07T01:23:29Z</dcterms:modified>
</cp:coreProperties>
</file>